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5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274320"/>
            <a:ext cx="3200400" cy="3200400"/>
          </a:xfrm>
          <a:prstGeom prst="ellipse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InterBanking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2CB"/>
                </a:solidFill>
                <a:latin typeface="Calibri"/>
              </a:rPr>
              <a:t>Full-Stack Multi-Country Banking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8FF"/>
                </a:solidFill>
                <a:latin typeface="Calibri"/>
              </a:rPr>
              <a:t>React 18  ·  Spring Boot 3  ·  FastAPI  ·  AI RAG Chatbot  ·  JWT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Banking Application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Calibri"/>
              </a:rPr>
              <a:t>What is InterBanking Hub?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Calibri"/>
              </a:rPr>
              <a:t>A full-stack web-based banking platform that simulates a real-world bank account management system. It supports multi-country account applications, document management, admin approval workflows, and an AI-powered chatbot assistant — all secured with JWT authentication.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743200"/>
            <a:ext cx="2743200" cy="38404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77977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🌍  Countries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127248"/>
            <a:ext cx="2743200" cy="30906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200400"/>
            <a:ext cx="2560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Calibri"/>
              </a:rPr>
              <a:t>India</a:t>
            </a:r>
          </a:p>
          <a:p>
            <a:r>
              <a:rPr sz="1300">
                <a:solidFill>
                  <a:srgbClr val="2C2C2C"/>
                </a:solidFill>
                <a:latin typeface="Calibri"/>
              </a:rPr>
              <a:t>USA</a:t>
            </a:r>
          </a:p>
          <a:p>
            <a:r>
              <a:rPr sz="1300">
                <a:solidFill>
                  <a:srgbClr val="2C2C2C"/>
                </a:solidFill>
                <a:latin typeface="Calibri"/>
              </a:rPr>
              <a:t>United Kingdom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743200"/>
            <a:ext cx="2743200" cy="38404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277977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👥  User Roles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3127248"/>
            <a:ext cx="2743200" cy="30906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200400"/>
            <a:ext cx="2560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Calibri"/>
              </a:rPr>
              <a:t>End User (Customer)</a:t>
            </a:r>
          </a:p>
          <a:p>
            <a:r>
              <a:rPr sz="1300">
                <a:solidFill>
                  <a:srgbClr val="2C2C2C"/>
                </a:solidFill>
                <a:latin typeface="Calibri"/>
              </a:rPr>
              <a:t>Branch Admin</a:t>
            </a:r>
          </a:p>
          <a:p>
            <a:r>
              <a:rPr sz="1300">
                <a:solidFill>
                  <a:srgbClr val="2C2C2C"/>
                </a:solidFill>
                <a:latin typeface="Calibri"/>
              </a:rPr>
              <a:t>Root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743200"/>
            <a:ext cx="2743200" cy="38404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277977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🔧  Core Tech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127248"/>
            <a:ext cx="2743200" cy="30906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200400"/>
            <a:ext cx="2560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Calibri"/>
              </a:rPr>
              <a:t>React 18 + Vite</a:t>
            </a:r>
          </a:p>
          <a:p>
            <a:r>
              <a:rPr sz="1300">
                <a:solidFill>
                  <a:srgbClr val="2C2C2C"/>
                </a:solidFill>
                <a:latin typeface="Calibri"/>
              </a:rPr>
              <a:t>Spring Boot 3</a:t>
            </a:r>
          </a:p>
          <a:p>
            <a:r>
              <a:rPr sz="1300">
                <a:solidFill>
                  <a:srgbClr val="2C2C2C"/>
                </a:solidFill>
                <a:latin typeface="Calibri"/>
              </a:rPr>
              <a:t>FastAPI + Ollama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743200"/>
            <a:ext cx="2743200" cy="384048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77977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🔒  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127248"/>
            <a:ext cx="2743200" cy="30906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3200400"/>
            <a:ext cx="2560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Calibri"/>
              </a:rPr>
              <a:t>JWT HS256</a:t>
            </a:r>
          </a:p>
          <a:p>
            <a:r>
              <a:rPr sz="1300">
                <a:solidFill>
                  <a:srgbClr val="2C2C2C"/>
                </a:solidFill>
                <a:latin typeface="Calibri"/>
              </a:rPr>
              <a:t>BCrypt passwords</a:t>
            </a:r>
          </a:p>
          <a:p>
            <a:r>
              <a:rPr sz="1300">
                <a:solidFill>
                  <a:srgbClr val="2C2C2C"/>
                </a:solidFill>
                <a:latin typeface="Calibri"/>
              </a:rPr>
              <a:t>Role-based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React 18 + Vite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SPA, CSS Modules, port 5173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Backend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Spring Boot 3 (Java 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6 independent microservices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AI Chatbot API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FastAPI (Python)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LangChain + FAISS + Ollama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llama3.2:3b via Ollama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Runs locally — no cloud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Vector Store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FAISS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Local embeddings, text chunks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Databases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One DB per service (isolated)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JWT HS256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24 h expiry, BCrypt passwords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Gmail SMTP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Registration &amp; admin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Chatbot Proxy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Spring Boot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Port 8086 → FastAPI port 8000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051560"/>
            <a:ext cx="5943600" cy="68580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0972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React Frontend   (port 5173)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REST  /  Bearer JWT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8464" y="1737360"/>
            <a:ext cx="54864" cy="5943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173736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2423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 Svc
8081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377440"/>
            <a:ext cx="173736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39" y="2423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Account Svc
8085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377440"/>
            <a:ext cx="173736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423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Bank Svc
8082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377440"/>
            <a:ext cx="173736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Admin Svc
8083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377440"/>
            <a:ext cx="173736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423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Root Admin
8084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3520440"/>
            <a:ext cx="1737360" cy="685800"/>
          </a:xfrm>
          <a:prstGeom prst="rect">
            <a:avLst/>
          </a:prstGeom>
          <a:solidFill>
            <a:srgbClr val="2A7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54787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Chatbot Proxy
8086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572000"/>
            <a:ext cx="2377440" cy="77724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4617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FastAPI RAG API  (port 8000)
Ollama llama3.2:3b  ·  FAISS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20440"/>
            <a:ext cx="128016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538728"/>
            <a:ext cx="1243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MySQL
userdb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520440"/>
            <a:ext cx="128016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78608" y="3538728"/>
            <a:ext cx="1243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MySQL
accountdb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520440"/>
            <a:ext cx="128016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3538728"/>
            <a:ext cx="1243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MySQL
bankdb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520440"/>
            <a:ext cx="128016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3538728"/>
            <a:ext cx="1243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3E"/>
                </a:solidFill>
                <a:latin typeface="Calibri"/>
              </a:rPr>
              <a:t>MySQL
admindb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297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Each service has its own isolated MySQL database  (Database-per-Service Pattern)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Microservices  —  Core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521440" cy="347472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 Service  (8081)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35607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User registration, login, logout, profile update, password change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Issues JWT (HS256, 24 h) with userId claim on login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Spring Security stateless — only /register &amp; /login are public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Server-side token blacklist via SessionService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Gmail SMTP welcome email on registration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43200"/>
            <a:ext cx="11521440" cy="347472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770632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Account Service  (8085)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Full account application lifecycle: PENDING → APPROVED / REJECTED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Strategy Pattern: IndiaAccountStrategy, UsaAccountStrategy, UkAccountStrategy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Accepts multipart form + 4 required documents per application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Admin email alert on every new application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Document storage &amp; download endpoints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11521440" cy="347472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690872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Bank Service  (8082)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4748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Bank directory: country, city, bank name, branch, IFSC / bank code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Filter endpoints by country, city, or both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Single &amp; bulk add, validation-only endpoint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Bank code uniqueness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Microservices  —  Admin &amp; Chatbot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5214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Admin Service  (8083)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35607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Branch-level admin registration &amp; JWT login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Approve / reject user account applications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New admin accounts are PENDING until Root Admin activates them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Role-based protection: @PreAuthorize("hasRole('ROOT_ADMIN')") on sensitive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51760"/>
            <a:ext cx="115214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679191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Root Admin Service  (8084)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3580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Top-level super-admin — highest authority in the hierarchy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Signs in with dedicated service → receives JWT with ROOT_ADMIN role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Verifies and activates pending branch admin accounts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Creates three-tier hierarchy: Root Admin → Branch Admin → End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434840"/>
            <a:ext cx="115214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462272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RAG Chatbot Service  (8086)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18888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Spring Boot proxy: forwards /chat requests to Python FastAPI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Decouples the React frontend from the Python runtime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Handles CORS and authentication pass-through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 RAG 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303520" cy="512064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06440" y="1051560"/>
            <a:ext cx="6035040" cy="51206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1  User sends a question via chat UI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2  FAQ cache checked first (fast path)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3  If no FAQ hit → FAISS vector search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      Retrieves top-K relevant text chunks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4  Context + question → Ollama LLM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5  llama3.2:3b generates natural language answer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6  Response returned to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Live API Actions  (beyond Q&amp;A)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0876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Look up user accounts &amp; application status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Filter banks by country / city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Update user profile details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Change user or admin password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Multi-turn session memory per user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Supports both user and admin modes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4434840"/>
            <a:ext cx="6035040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480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CB"/>
                </a:solidFill>
                <a:latin typeface="Calibri"/>
              </a:rPr>
              <a:t>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828032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• FastAPI (Python)  ·  LangChain  ·  FAISS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• Ollama  llama3.2:3b  (local — no cloud API)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• Knowledge base: text files in data/text_files/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Frontend Pages &amp; Features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HomePage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Landing page — hero section, platform overview, call-to-action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SignUp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User registration form with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SignIn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Login → backend returns JWT → stored in localStorage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UserPage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Customer dashboard: view profile, accounts, application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CreateAccount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6-step multi-country account application wizard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BrowseBank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Browse and filter banks by country and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AdminPage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Admin dashboard: manage applications, accounts, users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AboutPage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Company / project information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CreateAccount — 6-Step Wizard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691640" cy="109728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78992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
Personal
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417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1B3E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2848" y="1051560"/>
            <a:ext cx="1691640" cy="109728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1078992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
Educational
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7" y="1417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1B3E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1051560"/>
            <a:ext cx="1691640" cy="109728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1078992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
Income
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3016" y="1417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1B3E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051560"/>
            <a:ext cx="1691640" cy="109728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5624" y="1078992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
Nominee
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1417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1B3E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2" y="1051560"/>
            <a:ext cx="1691640" cy="1097280"/>
          </a:xfrm>
          <a:prstGeom prst="rect">
            <a:avLst/>
          </a:prstGeom>
          <a:solidFill>
            <a:srgbClr val="0A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1078992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
Document
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72" y="1417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1B3E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1051560"/>
            <a:ext cx="169164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078992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
Review &amp;
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228600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Country-adaptive fields: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  India  →  PAN (10 alphanum) + Aadhaar (12 digits)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  USA    →  SSN (auto-formatted XXX-XX-XXXX)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  UK     →  NIN (9 alphanumeric)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Account types per country: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  India  →  Savings, Current, Salary, Fixed Deposit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  USA    →  Checking, Money Market, CD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  UK     →  ISA, Fixed Term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2860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Real-time blur-triggered field validation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Name fields: letters + spaces only (max 30)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Institution / Course / Occupation: no digits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Mobile / Phone: digits only (max 15)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Amount fields: digits only, upper bound enforced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SSN: auto-formatted as XXX-XX-XXXX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4 required document uploads per application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Progress auto-saved to localStorage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▸ RFC-compliant email 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40280"/>
            <a:ext cx="36576" cy="420624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57784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24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JWT (HS256)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5577840" cy="89611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630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Issued on login · 24-hour expiry · includes userId claim · secret key configured in application.yml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50591"/>
            <a:ext cx="557784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7802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Bearer Token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79775"/>
            <a:ext cx="5577840" cy="89611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16351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Every API call sends Authorization: Bearer &lt;token&gt; · userApi.js injects header 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03904"/>
            <a:ext cx="557784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313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Spring Security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133088"/>
            <a:ext cx="5577840" cy="89611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169664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Stateless session policy · JwtAuthenticationFilter on each service · validates signature &amp; expiry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57216"/>
            <a:ext cx="557784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1846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Token Blacklist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486400"/>
            <a:ext cx="5577840" cy="89611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5522976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SessionService tracks revoked tokens · logout endpoint invalidates server-side immediately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097280"/>
            <a:ext cx="5577840" cy="329184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124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BCrypt Passwords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426464"/>
            <a:ext cx="5577840" cy="89611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4630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All passwords stored as BCrypt hashes — never plain 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450591"/>
            <a:ext cx="5577840" cy="329184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47802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Role-Based Access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779775"/>
            <a:ext cx="5577840" cy="89611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2816351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@PreAuthorize('hasRole(ROOT_ADMIN)') guards admin verification endpoints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803904"/>
            <a:ext cx="5577840" cy="329184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8313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Frontend Guard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133088"/>
            <a:ext cx="5577840" cy="89611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169664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authGuard.js checks token presence + user object validity · auto-redirects to /signin on 401/403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157216"/>
            <a:ext cx="5577840" cy="329184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1846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486400"/>
            <a:ext cx="5577840" cy="89611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5522976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Each service explicitly allows localhost:5173 · credentials: true for cookie/auth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Design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7432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14300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Strategy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743200" cy="178308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72768"/>
            <a:ext cx="25786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Country-specific account creation
(IndiaAccountStrategy, UsaAccountStrategy, UkAccountStrategy)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2696" y="1097280"/>
            <a:ext cx="27432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14300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Repository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2696" y="1508760"/>
            <a:ext cx="2743200" cy="178308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1572768"/>
            <a:ext cx="25786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All data access via Spring Data JPA repositories
(AccountRepository, UserRepository, BankRepository…)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097280"/>
            <a:ext cx="27432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14300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DTO Pattern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508760"/>
            <a:ext cx="2743200" cy="178308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572768"/>
            <a:ext cx="25786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Request/Response objects separate from JPA entities
(AccountRequest, LoginResponse, UserDetailsResponse…)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08008" y="1097280"/>
            <a:ext cx="27432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14300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Filter Chain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08008" y="1508760"/>
            <a:ext cx="2743200" cy="178308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572768"/>
            <a:ext cx="25786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JWT authentication via Spring Security filter
(JwtAuthenticationFilter on each secured service)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66160"/>
            <a:ext cx="2743200" cy="41148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361188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Proxy Pattern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77640"/>
            <a:ext cx="2743200" cy="178308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041648"/>
            <a:ext cx="25786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RAG Chatbot Service proxies requests to FastAPI
(Spring Boot → Python, decoupled runtimes)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82696" y="3566160"/>
            <a:ext cx="2743200" cy="41148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361188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RAG Pattern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82696" y="3977640"/>
            <a:ext cx="2743200" cy="178308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74136" y="4041648"/>
            <a:ext cx="25786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Retrieval-Augmented Generation for chatbot
(FAISS retrieval + Ollama LLM generation)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3566160"/>
            <a:ext cx="2743200" cy="41148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18504" y="361188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Guard Pattern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3977640"/>
            <a:ext cx="2743200" cy="178308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4041648"/>
            <a:ext cx="25786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Frontend route protection via authGuard.js
(token check + 401/403 redirect)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08008" y="3566160"/>
            <a:ext cx="2743200" cy="41148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361188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Session Store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08008" y="3977640"/>
            <a:ext cx="2743200" cy="178308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9448" y="4041648"/>
            <a:ext cx="257860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Per-user chatbot session state in SelectionStore
(multi-turn conversation memory)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Service Reference — Ports &amp; 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Service Port Map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54480"/>
          <a:ext cx="55778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User Service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8081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userdb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Bank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8082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bankdb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Admin Service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8083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admindb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Root Admin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8084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rootadmindb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Account Service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8085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accountdb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RAG Chatbot Service (proxy)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8086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FastAPI RAG API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— (FAISS local)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React 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5173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Account Types by Country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554480"/>
          <a:ext cx="5577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Account Types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Savings, Current, Salary, Fixed Deposit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USA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Checking, Money Market, Certificate of Deposit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UK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ISA, Fixed Term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3794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User Hierarchy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206240"/>
            <a:ext cx="5577840" cy="21945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34340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1B3E"/>
                </a:solidFill>
                <a:latin typeface="Calibri"/>
              </a:rPr>
              <a:t>Root Admin</a:t>
            </a:r>
          </a:p>
          <a:p>
            <a:r>
              <a:rPr sz="1300" b="0">
                <a:solidFill>
                  <a:srgbClr val="2C2C2C"/>
                </a:solidFill>
                <a:latin typeface="Calibri"/>
              </a:rPr>
              <a:t>   └─ Branch Admin  (verified by Root Admin)</a:t>
            </a:r>
          </a:p>
          <a:p>
            <a:r>
              <a:rPr sz="1300" b="0">
                <a:solidFill>
                  <a:srgbClr val="2C2C2C"/>
                </a:solidFill>
                <a:latin typeface="Calibri"/>
              </a:rPr>
              <a:t>         └─ End User  (applications reviewed by Admin)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End-to-End Application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24712"/>
            <a:ext cx="502920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143000"/>
            <a:ext cx="4846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124712"/>
            <a:ext cx="32004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43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 Registers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24712"/>
            <a:ext cx="758952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1430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user-service creates account,
sends welcome email via Gmail SMTP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37943"/>
            <a:ext cx="502920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856231"/>
            <a:ext cx="4846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1837943"/>
            <a:ext cx="32004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1856231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 Logs 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837943"/>
            <a:ext cx="758952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856231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Receives JWT token,
stored in localStorage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51176"/>
            <a:ext cx="502920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2569464"/>
            <a:ext cx="4846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2551176"/>
            <a:ext cx="32004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56946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Browse Banks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551176"/>
            <a:ext cx="758952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569464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bank-service returns country/city
filtered bank directory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64408"/>
            <a:ext cx="502920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3282696"/>
            <a:ext cx="4846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3264408"/>
            <a:ext cx="32004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2826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Create Account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3264408"/>
            <a:ext cx="758952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282696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6-step wizard + 4 document uploads
submitted to account-service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77639"/>
            <a:ext cx="502920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3995927"/>
            <a:ext cx="4846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3977639"/>
            <a:ext cx="32004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99592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Admin Reviews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3977639"/>
            <a:ext cx="758952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995927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Admin approves / rejects application
account-service updates status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690872"/>
            <a:ext cx="502920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" y="4709160"/>
            <a:ext cx="4846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" y="4690872"/>
            <a:ext cx="32004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709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 Checks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4690872"/>
            <a:ext cx="758952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470916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UserPage fetches live status
from account-service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404104"/>
            <a:ext cx="502920" cy="50292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5422392"/>
            <a:ext cx="4846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" y="5404104"/>
            <a:ext cx="32004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4223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RAG Chatbot Assist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5404104"/>
            <a:ext cx="758952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5422392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Answers questions &amp; performs
live API lookups anytime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Key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577840" cy="1097280"/>
          </a:xfrm>
          <a:prstGeom prst="rect">
            <a:avLst/>
          </a:prstGeom>
          <a:solidFill>
            <a:srgbClr val="0D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2412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CB"/>
                </a:solidFill>
                <a:latin typeface="Calibri"/>
              </a:rPr>
              <a:t>🌍  Multi-Country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44752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India, USA, UK — country-specific fields, account types, and document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60120"/>
            <a:ext cx="5577840" cy="1097280"/>
          </a:xfrm>
          <a:prstGeom prst="rect">
            <a:avLst/>
          </a:prstGeom>
          <a:solidFill>
            <a:srgbClr val="0D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02412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CB"/>
                </a:solidFill>
                <a:latin typeface="Calibri"/>
              </a:rPr>
              <a:t>⚙️  Microservices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444752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6 independent Spring Boot services, each with its own MySQL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577840" cy="1097280"/>
          </a:xfrm>
          <a:prstGeom prst="rect">
            <a:avLst/>
          </a:prstGeom>
          <a:solidFill>
            <a:srgbClr val="0D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25856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CB"/>
                </a:solidFill>
                <a:latin typeface="Calibri"/>
              </a:rPr>
              <a:t>🤖  AI-Powered Chatbot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9192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Local RAG using FAISS + Ollama — no cloud AI needed, real-time API 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94560"/>
            <a:ext cx="5577840" cy="1097280"/>
          </a:xfrm>
          <a:prstGeom prst="rect">
            <a:avLst/>
          </a:prstGeom>
          <a:solidFill>
            <a:srgbClr val="0D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25856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CB"/>
                </a:solidFill>
                <a:latin typeface="Calibri"/>
              </a:rPr>
              <a:t>🔒  End-to-End JWT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679192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Stateless, role-based, BCrypt passwords, server-side logout blacklist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29000"/>
            <a:ext cx="5577840" cy="1097280"/>
          </a:xfrm>
          <a:prstGeom prst="rect">
            <a:avLst/>
          </a:prstGeom>
          <a:solidFill>
            <a:srgbClr val="0D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49300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CB"/>
                </a:solidFill>
                <a:latin typeface="Calibri"/>
              </a:rPr>
              <a:t>✅  Production-Grade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913632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Blur-triggered, field-level — enforced on both client and server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429000"/>
            <a:ext cx="5577840" cy="1097280"/>
          </a:xfrm>
          <a:prstGeom prst="rect">
            <a:avLst/>
          </a:prstGeom>
          <a:solidFill>
            <a:srgbClr val="0D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49300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CB"/>
                </a:solidFill>
                <a:latin typeface="Calibri"/>
              </a:rPr>
              <a:t>📄  Document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913632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Multipart upload/download for 4 required documents per application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63440"/>
            <a:ext cx="5577840" cy="1097280"/>
          </a:xfrm>
          <a:prstGeom prst="rect">
            <a:avLst/>
          </a:prstGeom>
          <a:solidFill>
            <a:srgbClr val="0D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72744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CB"/>
                </a:solidFill>
                <a:latin typeface="Calibri"/>
              </a:rPr>
              <a:t>👑  Three-Tier Admin Hierarchy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5148072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End User → Branch Admin → Root 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663440"/>
            <a:ext cx="5577840" cy="1097280"/>
          </a:xfrm>
          <a:prstGeom prst="rect">
            <a:avLst/>
          </a:prstGeom>
          <a:solidFill>
            <a:srgbClr val="0D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72744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CB"/>
                </a:solidFill>
                <a:latin typeface="Calibri"/>
              </a:rPr>
              <a:t>🧩  Clean Design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5148072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Strategy, Repository, DTO, Filter Chain, RAG, Guard, Proxy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2910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InterBanking Hub  |  2026  |  Built with React · Spring Boot · FastAPI · Ollama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iteId">
    <vt:lpwstr>258ac4e4-146a-411e-9dc8-79a9e12fd6da</vt:lpwstr>
  </property>
  <property fmtid="{D5CDD505-2E9C-101B-9397-08002B2CF9AE}" pid="4" name="MSIP_Label_a8c544ca-bb84-4280-906e-934547e1d30c_SetDate">
    <vt:lpwstr>2026-07-13T04:39:42Z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ActionId">
    <vt:lpwstr>48b92bda-4a7b-4ad1-9f0d-5b094b2c2a01</vt:lpwstr>
  </property>
  <property fmtid="{D5CDD505-2E9C-101B-9397-08002B2CF9AE}" pid="7" name="MSIP_Label_a8c544ca-bb84-4280-906e-934547e1d30c_Removed">
    <vt:lpwstr>False</vt:lpwstr>
  </property>
  <property fmtid="{D5CDD505-2E9C-101B-9397-08002B2CF9AE}" pid="8" name="MSIP_Label_a8c544ca-bb84-4280-906e-934547e1d30c_Extended_MSFT_Method">
    <vt:lpwstr>Standard</vt:lpwstr>
  </property>
  <property fmtid="{D5CDD505-2E9C-101B-9397-08002B2CF9AE}" pid="9" name="Sensitivity">
    <vt:lpwstr>Internal - General Use</vt:lpwstr>
  </property>
</Properties>
</file>